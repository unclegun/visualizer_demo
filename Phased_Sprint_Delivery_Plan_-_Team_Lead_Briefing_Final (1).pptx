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01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source links (per Phased Sprint Delivery Plan, Rev. 07/21/2026, Section 10):
1. Azure DevOps: Work Item Management (Microsoft Learn): https://learn.microsoft.com/en-us/azure/devops/boards/backlogs/manage-work-items?view=azure-devops - fully free, no account tier required. Audience: All developers. Target: 30 days.
2. Azure DevOps: Backlog and Sprint Management (Microsoft Learn): https://learn.microsoft.com/en-us/azure/devops/boards/backlogs/backlogs-overview?view=azure-devops - fully free. Audience: Developers + Team Leads. Target: 30 days.
3. Free Agile Courses Library (Udemy): https://www.udemy.com/topic/agile/free/ - free, multi-topic library. Audience: All team members. Target: Self-paced.
4. Azure DevOps Boards Fundamentals (YouTube - Complete Azure DevOps Boards Training for Beginners): https://www.youtube.com/watch?v=rXwUSCDH59Y - Audience: All developers. Target: 30 days.
5. Azure DevOps Zero to Hero - full walkthrough of Boards, Repos, Pipelines: https://learn.microsoft.com/en-us/shows/devops-lab/azure-devops-zero-to-hero-tutorial - Audience: Developers + Team Leads. Target: Self-paced.
6. Agile Scrum Full Course in 4 Hours (Simplilearn, YouTube): https://www.youtube.com/watch?v=VFQtSqChlsk - Audience: All team members. Target: Self-paced.
7. Scrum Fundamentals - Scrum 101: The Fundamentals of the Agile Scrum Methodology (YouTube): https://www.youtube.com/watch?v=ojpTDcdm0vQ - Audience: All team members. Target: 30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VFQtSqChlsk" TargetMode="External"/><Relationship Id="rId3" Type="http://schemas.openxmlformats.org/officeDocument/2006/relationships/hyperlink" Target="https://learn.microsoft.com/en-us/azure/devops/boards/backlogs/manage-work-items?view=azure-devops" TargetMode="External"/><Relationship Id="rId7" Type="http://schemas.openxmlformats.org/officeDocument/2006/relationships/hyperlink" Target="https://learn.microsoft.com/en-us/shows/devops-lab/azure-devops-zero-to-hero-tutoria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rXwUSCDH59Y" TargetMode="External"/><Relationship Id="rId5" Type="http://schemas.openxmlformats.org/officeDocument/2006/relationships/hyperlink" Target="https://www.udemy.com/topic/agile/free/" TargetMode="External"/><Relationship Id="rId4" Type="http://schemas.openxmlformats.org/officeDocument/2006/relationships/hyperlink" Target="https://learn.microsoft.com/en-us/azure/devops/boards/backlogs/backlogs-overview?view=azure-devops" TargetMode="External"/><Relationship Id="rId9" Type="http://schemas.openxmlformats.org/officeDocument/2006/relationships/hyperlink" Target="https://www.youtube.com/watch?v=ojpTDcdm0vQ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ln w="25400">
            <a:solidFill>
              <a:srgbClr val="2A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ln w="25400">
            <a:solidFill>
              <a:srgbClr val="2A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IMPLEMENTATION BRIEFING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Sprint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Plan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 for the Applications Development / SharePoint team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219456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Information Management Division   |   Contract No. HT9425-23-F-0002
NexTech LinTech LLC   |   Draft Version 3.0, July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Chhoeun Groleau and Mike Maurer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model with two operating levels, a clear escalation path, and disciplined scope control — built for the Applications Development / SharePoint team.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95351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levels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Team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20574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216712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47872" y="295351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work tiers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→ Feature → Story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20574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18504" y="216712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18504" y="295351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to Monthly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0536" y="20574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89136" y="216712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89136" y="2953512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change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TEAM LEADS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410565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risks and blockers immediately — early communication gives the team options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" y="448970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ADO boards current daily; they are the single source of truth for the program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74336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48737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epics or sprint-level scope changes without Government Lead approval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58384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" y="5257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Governance Review, bi-weekly Program Review, monthly Government Status Review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742432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" y="56418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required Azure DevOps and Agile training modules — most due within 30 days; some self-paced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and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plan is the team's operational guide for rolling out the Phased Sprint Delivery Plan governance model across the USAMRIID contract, for the Applications Development / SharePoint team.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PLAN COVERS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4564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3558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works and why it matters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8130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 for PMs, Team Leads, and Developers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08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2702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board standards and daily expectations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7274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 cadence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852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51846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 and change control process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742432"/>
            <a:ext cx="146304" cy="146304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564184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escalation expectations and training requirements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155448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ROLLOUT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148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Development /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 Team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03720" y="3154680"/>
            <a:ext cx="4023360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levels, working together: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7543800" y="37764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Level — contract deliverables, milestones, government reporting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03720" y="452628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543800" y="45079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Level — sprint execution, backlog, day-to-day delivery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5349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on the two-level model follows on the next slide.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Scope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operating simultaneously — complementary layers that answer different questions, not competing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LEVEL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Program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Contract deliverables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844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 milestones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9684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reporting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3525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management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7365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Scope adherence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5166360"/>
            <a:ext cx="475488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 we delivering the agreed-upon outcomes?”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0574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LEVEL (AGILE)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6791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Team Leads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Sprint execution &amp; standups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5433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Schedule adherence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2291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Backlog prioritization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 item tracking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9149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Technical reviews &amp; defect management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5303520"/>
            <a:ext cx="4754880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54223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are we completing the work?”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Works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Work Hierarchy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must be able to trace work back to a program objective.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1762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deliverables, major program objectives, government priorities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852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Application Modernization, Security Compliance Enhancements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 reviews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675888"/>
            <a:ext cx="8503920" cy="1234440"/>
          </a:xfrm>
          <a:prstGeom prst="roundRect">
            <a:avLst>
              <a:gd name="adj" fmla="val 4444"/>
            </a:avLst>
          </a:prstGeom>
          <a:solidFill>
            <a:srgbClr val="3A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794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41330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capabilities, functional requirements, planned releases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447141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User Authentication, Dashboard Reporting, Audit Logging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manage progress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5294376"/>
            <a:ext cx="6400800" cy="1234440"/>
          </a:xfrm>
          <a:prstGeom prst="roundRect">
            <a:avLst>
              <a:gd name="adj" fmla="val 4444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541324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STORY / WORK ITEM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57515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development tasks, enhancements, defects, technical work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60899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 MFA, Fix dashboard filter, Create audit log export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65562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own daily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Work Hierarchy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Lead Role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core areas of operational responsibility under this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Escalation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Escalate blockers, scope concerns, and technical risks immediately — not at the next status meeting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Early communication gives the team options; late communication creates emergencies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0832" y="20116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3A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45152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4645152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&amp; Scope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45152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Weekly ADO board health and backlog reviews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45152" y="4617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new epics or sprint-level scope changes without Government Lead approval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5152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Ensure acceptance criteria exist before work enters development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65592" y="2002536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67344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6734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8467344" y="30632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67344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67344" y="4617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Reinforce Delivery principles in standups through practical application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67344" y="5394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Participate in weekly Team Lead Governance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Lead Role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Standup — Purpose and Expectations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Standups are already in place. This reinforces the intent and expected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A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313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STANDUP 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team coordination meeting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456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forum to surface blockers 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place to identify risks before they affect delivery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517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place to flag dependencies and constraints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5B6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3134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STANDUP IS NOT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status report to management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456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meeting to explain completed work in detail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9867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performance evaluation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517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— attendance and honesty are expected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623560"/>
            <a:ext cx="10469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Message: If you believe a task may miss a target date, become blocked, or require more effort than planned — say so immediately.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Board Standards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is the single source of truth for all work on this contract. Board accuracy is not optional.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prioritized work not yet started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2578608"/>
            <a:ext cx="201168" cy="237744"/>
          </a:xfrm>
          <a:prstGeom prst="chevron">
            <a:avLst/>
          </a:prstGeom>
          <a:solidFill>
            <a:srgbClr val="5B6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871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being worked — updated daily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79592" y="2578608"/>
            <a:ext cx="201168" cy="237744"/>
          </a:xfrm>
          <a:prstGeom prst="chevron">
            <a:avLst/>
          </a:prstGeom>
          <a:solidFill>
            <a:srgbClr val="5B6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4871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— awaiting review or testing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22792" y="2578608"/>
            <a:ext cx="201168" cy="237744"/>
          </a:xfrm>
          <a:prstGeom prst="chevron">
            <a:avLst/>
          </a:prstGeom>
          <a:solidFill>
            <a:srgbClr val="5B6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78240" y="20116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48716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Accepted, verified complete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structure: the workflow above is for status reporting; each feature also has a task-level board (Backlog → In Progress → Done, with a Blocked flag) for day-to-day tracking.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109960" cy="2286000"/>
          </a:xfrm>
          <a:prstGeom prst="roundRect">
            <a:avLst>
              <a:gd name="adj" fmla="val 24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315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UPDATE RULES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frequency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3360" y="4663440"/>
            <a:ext cx="7452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day — not end of sprint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50109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documentation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23360" y="5010912"/>
            <a:ext cx="7452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the blocker is identified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53583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movement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23360" y="5358384"/>
            <a:ext cx="7452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as soon as status actually changes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7058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23360" y="5705856"/>
            <a:ext cx="7452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before a work item moves to In Progress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60533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items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023360" y="6053328"/>
            <a:ext cx="7452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&gt; 5 business days without update → escalate to Team Lead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Board Standards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Review Cadence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commitments, not ad hoc events.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18745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1109960" cy="914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95144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2295144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29514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29514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Blockers, risks, daily coordination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11109960" cy="9144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209544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86000" y="3209544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20954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Team Leads, Technical Leads, Government POC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20954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Epic/Feature progress, risks, resource concerns, upcoming deliverables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111099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4123944"/>
            <a:ext cx="1234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86000" y="4123944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Status 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123944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Team Leads, Government POC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12394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accomplishments, deliverable status, risk awareness, planned activities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1874520"/>
            <a:ext cx="0" cy="310896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51480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dashboards and reports are the primary visual aid for bi-weekly and monthly reviews. Ensure your board is current before each review.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 Cadence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Management &amp; Change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non-negotiable. Every code change is a change request.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2148840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ADO backlog: requestor, description, date, estimate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1965960"/>
            <a:ext cx="2084832" cy="2148840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43784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43784" y="2532888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3784" y="288036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evaluates schedule/resource impact — no verbal approvals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9472" y="1965960"/>
            <a:ext cx="2084832" cy="2148840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2532888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brings assessment to Government Lead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04888" y="1965960"/>
            <a:ext cx="2084832" cy="2148840"/>
          </a:xfrm>
          <a:prstGeom prst="roundRect">
            <a:avLst>
              <a:gd name="adj" fmla="val 2632"/>
            </a:avLst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14616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14616" y="2532888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14616" y="288036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 approves, defers, or rejects within 2 business days — documented in ADO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90304" y="1965960"/>
            <a:ext cx="2084832" cy="2148840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0003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400032" y="2532888"/>
            <a:ext cx="1865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00032" y="288036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Backlog/sprint updated; work begins only after this step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begins on Major efforts until Step 4 is complete and documented — regardless of requester seniority or urgency claims.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ALLOCATION PER SPRINT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55549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55549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3620" y="5257800"/>
            <a:ext cx="2777490" cy="502920"/>
          </a:xfrm>
          <a:prstGeom prst="rect">
            <a:avLst/>
          </a:prstGeom>
          <a:solidFill>
            <a:srgbClr val="3A44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03620" y="5257800"/>
            <a:ext cx="2777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81110" y="5257800"/>
            <a:ext cx="2777490" cy="50292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81110" y="5257800"/>
            <a:ext cx="2777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5833872"/>
            <a:ext cx="55549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work efforts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03620" y="5833872"/>
            <a:ext cx="27774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work efforts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81110" y="5833872"/>
            <a:ext cx="27774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admin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 &amp; Change Control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and Escalation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must be communicated as soon as they are identified — not at the next scheduled meeting.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Risk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585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milestones, potential delays, resource shortages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5074920"/>
            <a:ext cx="2258568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5138928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340096"/>
            <a:ext cx="2258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→ Gov't TPOC, PM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20116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47872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47872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3502152" y="297180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Risk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02152" y="3520440"/>
            <a:ext cx="22585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concerns, security issues, significant defects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02152" y="5074920"/>
            <a:ext cx="2258568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02152" y="5138928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2152" y="5340096"/>
            <a:ext cx="2258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→ Gov't TPOC, PM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20116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18504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1850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6272784" y="297180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Risk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72784" y="3520440"/>
            <a:ext cx="22585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work requests, requirement changes, expanding requirements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72784" y="5074920"/>
            <a:ext cx="2258568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72784" y="5138928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72784" y="5340096"/>
            <a:ext cx="2258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→ Gov't TPOC, PM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60536" y="201168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89136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8913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9043416" y="297180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Risk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043416" y="3520440"/>
            <a:ext cx="22585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approvals pending, third-party access, GFE/PIV constraints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43416" y="5074920"/>
            <a:ext cx="2258568" cy="0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43416" y="5138928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43416" y="5340096"/>
            <a:ext cx="2258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→ Gov't TPOC, PM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Escalation Framework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We Will Track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punitive — leading indicators of whether the process is working.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per sprint, work in progress, backlog size, sprint completion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5786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trends, rework items, review cycle times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4074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77316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items and aging time, ADO update compliance, training completion rates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44074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77316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completion status, milestone achievement, scope change volume, risk trends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We Will Track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below is free to access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0" y="19659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19659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0" y="1965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11109960" cy="47548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50008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Azure DevOps: Work Item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3500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(free)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23500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0" y="23500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111099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825496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Azure DevOps: Backlog and Sprint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8254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(free)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28254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Team Leads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0" y="282549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11109960" cy="47548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300984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Free Agile Courses Library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3009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 (free)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330098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0" y="33009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76472"/>
            <a:ext cx="111099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776472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Azure DevOps Boards Fundamentals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7764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(free)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377647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0" y="37764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11109960" cy="47548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4251960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Azure DevOps Zero to Hero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4251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(free)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2519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+ Team Leads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41280" y="425196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27448"/>
            <a:ext cx="111099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4727448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Agile Scrum Full Course (4 Hours)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47274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(free)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7274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241280" y="472744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202936"/>
            <a:ext cx="11109960" cy="47548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5202936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Scrum Fundamentals — Short Intro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26480" y="52029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(free)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52029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241280" y="52029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1965960"/>
            <a:ext cx="0" cy="3712464"/>
          </a:xfrm>
          <a:prstGeom prst="line">
            <a:avLst/>
          </a:prstGeom>
          <a:noFill/>
          <a:ln w="12700">
            <a:solidFill>
              <a:srgbClr val="D7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58613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are free to access in full; no login, subscription, or certificate purchase required.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Requirements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USAMRIID IMD | HT9425-23-F-0002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ln w="25400">
            <a:solidFill>
              <a:srgbClr val="2A3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blockers are identified and communicated before they affect delivery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boards reflect accurate, current status at any point in time without prompting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begins on unapproved requests — scope discipline is maintained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78892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812280" y="27432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completion rates are predictable and schedule surprises are rare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stakeholders have clear, data-driven visibility into project health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794760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812280" y="3749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and developers understand not just how, but why these practices exist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a shared understanding of priorities, progress, risks, and expected outcomes — across leadership, team leads, developers, and government stakeholders.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this plan should be directed to the Program Manager. This document will be reviewed and updated as the program evolves.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abef0e-d862-45b6-bd7e-e9c356ae5e85}" enabled="0" method="" siteId="{08abef0e-d862-45b6-bd7e-e9c356ae5e8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1985</Words>
  <Application>Microsoft Office PowerPoint</Application>
  <PresentationFormat>Widescreen</PresentationFormat>
  <Paragraphs>310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Chhoeun Groleau</cp:lastModifiedBy>
  <cp:revision>3</cp:revision>
  <dcterms:created xsi:type="dcterms:W3CDTF">2026-08-12T12:29:28Z</dcterms:created>
  <dcterms:modified xsi:type="dcterms:W3CDTF">2026-08-19T01:08:51Z</dcterms:modified>
</cp:coreProperties>
</file>